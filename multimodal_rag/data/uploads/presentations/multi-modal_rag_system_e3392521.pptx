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2895" cy="1371600"/>
          </a:xfrm>
          <a:prstGeom prst="rect">
            <a:avLst/>
          </a:prstGeom>
          <a:noFill/>
        </p:spPr>
        <p:txBody>
          <a:bodyPr wrap="none">
            <a:spAutoFit/>
          </a:bodyPr>
          <a:lstStyle/>
          <a:p>
            <a:pPr algn="ctr">
              <a:defRPr sz="4400" b="1">
                <a:solidFill>
                  <a:srgbClr val="1E3A5F"/>
                </a:solidFill>
              </a:defRPr>
            </a:pPr>
            <a:r>
              <a:t>multi-modal rag system</a:t>
            </a:r>
          </a:p>
        </p:txBody>
      </p:sp>
      <p:sp>
        <p:nvSpPr>
          <p:cNvPr id="4" name="TextBox 3"/>
          <p:cNvSpPr txBox="1"/>
          <p:nvPr/>
        </p:nvSpPr>
        <p:spPr>
          <a:xfrm>
            <a:off x="914400" y="3840480"/>
            <a:ext cx="10362895" cy="731520"/>
          </a:xfrm>
          <a:prstGeom prst="rect">
            <a:avLst/>
          </a:prstGeom>
          <a:noFill/>
        </p:spPr>
        <p:txBody>
          <a:bodyPr wrap="none">
            <a:spAutoFit/>
          </a:bodyPr>
          <a:lstStyle/>
          <a:p>
            <a:pPr algn="ctr">
              <a:defRPr sz="2400">
                <a:solidFill>
                  <a:srgbClr val="3D5A80"/>
                </a:solidFill>
              </a:defRPr>
            </a:pPr>
            <a:r>
              <a:t>Evidence-Based AI Presentation</a:t>
            </a:r>
          </a:p>
        </p:txBody>
      </p:sp>
      <p:sp>
        <p:nvSpPr>
          <p:cNvPr id="5" name="TextBox 4"/>
          <p:cNvSpPr txBox="1"/>
          <p:nvPr/>
        </p:nvSpPr>
        <p:spPr>
          <a:xfrm>
            <a:off x="914400" y="5943600"/>
            <a:ext cx="10362895" cy="457200"/>
          </a:xfrm>
          <a:prstGeom prst="rect">
            <a:avLst/>
          </a:prstGeom>
          <a:noFill/>
        </p:spPr>
        <p:txBody>
          <a:bodyPr wrap="none">
            <a:spAutoFit/>
          </a:bodyPr>
          <a:lstStyle/>
          <a:p>
            <a:pPr algn="ctr">
              <a:defRPr sz="1600">
                <a:solidFill>
                  <a:srgbClr val="333333"/>
                </a:solidFill>
              </a:defRPr>
            </a:pPr>
            <a:r>
              <a:t>January 19,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77295" cy="731520"/>
          </a:xfrm>
          <a:prstGeom prst="rect">
            <a:avLst/>
          </a:prstGeom>
          <a:noFill/>
        </p:spPr>
        <p:txBody>
          <a:bodyPr wrap="none">
            <a:spAutoFit/>
          </a:bodyPr>
          <a:lstStyle/>
          <a:p>
            <a:pPr>
              <a:defRPr sz="3200" b="1">
                <a:solidFill>
                  <a:srgbClr val="FFFFFF"/>
                </a:solidFill>
              </a:defRPr>
            </a:pPr>
            <a:r>
              <a:t>multi-modal rag system</a:t>
            </a:r>
          </a:p>
        </p:txBody>
      </p:sp>
      <p:sp>
        <p:nvSpPr>
          <p:cNvPr id="4" name="TextBox 3"/>
          <p:cNvSpPr txBox="1"/>
          <p:nvPr/>
        </p:nvSpPr>
        <p:spPr>
          <a:xfrm>
            <a:off x="685800" y="1554480"/>
            <a:ext cx="10820095" cy="4572000"/>
          </a:xfrm>
          <a:prstGeom prst="rect">
            <a:avLst/>
          </a:prstGeom>
          <a:noFill/>
        </p:spPr>
        <p:txBody>
          <a:bodyPr wrap="square">
            <a:spAutoFit/>
          </a:bodyPr>
          <a:lstStyle/>
          <a:p>
            <a:pPr>
              <a:spcAft>
                <a:spcPts val="1200"/>
              </a:spcAft>
              <a:defRPr sz="2200">
                <a:solidFill>
                  <a:srgbClr val="333333"/>
                </a:solidFill>
              </a:defRPr>
            </a:pPr>
            <a:r>
              <a:t>• 📌 Key information about multi-modal rag system</a:t>
            </a:r>
          </a:p>
          <a:p>
            <a:pPr>
              <a:spcAft>
                <a:spcPts val="1200"/>
              </a:spcAft>
              <a:defRPr sz="2200">
                <a:solidFill>
                  <a:srgbClr val="333333"/>
                </a:solidFill>
              </a:defRPr>
            </a:pPr>
            <a:r>
              <a:t>• VisDoMRAG with Unimodal RAG strategies.</a:t>
            </a:r>
          </a:p>
          <a:p>
            <a:pPr>
              <a:spcAft>
                <a:spcPts val="1200"/>
              </a:spcAft>
              <a:defRPr sz="2200">
                <a:solidFill>
                  <a:srgbClr val="333333"/>
                </a:solidFill>
              </a:defRPr>
            </a:pPr>
            <a:r>
              <a:t>• 3 Ablations We conducted ablation studies with ChatGPT4o to evaluate the effectiveness of various components in our proposed VisDoMRAG framework, as well as to compare early fusion and late fusion strategies for modality integration.</a:t>
            </a:r>
          </a:p>
          <a:p>
            <a:pPr>
              <a:spcAft>
                <a:spcPts val="1200"/>
              </a:spcAft>
              <a:defRPr sz="2200">
                <a:solidFill>
                  <a:srgbClr val="333333"/>
                </a:solidFill>
              </a:defRPr>
            </a:pPr>
            <a:r>
              <a:t>• range of complex content and question types, along with annotated evidence, allowing for a comprehensive evaluation of mul- timodal QA systems.</a:t>
            </a:r>
          </a:p>
          <a:p>
            <a:pPr>
              <a:spcAft>
                <a:spcPts val="1200"/>
              </a:spcAft>
              <a:defRPr sz="2200">
                <a:solidFill>
                  <a:srgbClr val="333333"/>
                </a:solidFill>
              </a:defRPr>
            </a:pPr>
            <a:r>
              <a:t>• In this work, we bench- mark the performance of various visual and textual retrieval methods on VisDoMBench, providing in- sights into their effectiveness in handling visually rich, multi-document queries.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77295" cy="731520"/>
          </a:xfrm>
          <a:prstGeom prst="rect">
            <a:avLst/>
          </a:prstGeom>
          <a:noFill/>
        </p:spPr>
        <p:txBody>
          <a:bodyPr wrap="none">
            <a:spAutoFit/>
          </a:bodyPr>
          <a:lstStyle/>
          <a:p>
            <a:pPr>
              <a:defRPr sz="3200" b="1">
                <a:solidFill>
                  <a:srgbClr val="FFFFFF"/>
                </a:solidFill>
              </a:defRPr>
            </a:pPr>
            <a:r>
              <a:t>Key Points from Analysis</a:t>
            </a:r>
          </a:p>
        </p:txBody>
      </p:sp>
      <p:sp>
        <p:nvSpPr>
          <p:cNvPr id="4" name="TextBox 3"/>
          <p:cNvSpPr txBox="1"/>
          <p:nvPr/>
        </p:nvSpPr>
        <p:spPr>
          <a:xfrm>
            <a:off x="685800" y="1554480"/>
            <a:ext cx="10820095" cy="4572000"/>
          </a:xfrm>
          <a:prstGeom prst="rect">
            <a:avLst/>
          </a:prstGeom>
          <a:noFill/>
        </p:spPr>
        <p:txBody>
          <a:bodyPr wrap="square">
            <a:spAutoFit/>
          </a:bodyPr>
          <a:lstStyle/>
          <a:p>
            <a:pPr>
              <a:spcAft>
                <a:spcPts val="1200"/>
              </a:spcAft>
              <a:defRPr sz="2200">
                <a:solidFill>
                  <a:srgbClr val="333333"/>
                </a:solidFill>
              </a:defRPr>
            </a:pPr>
            <a:r>
              <a:t>• VisDoMRAG with Unimodal RAG strategies.</a:t>
            </a:r>
          </a:p>
          <a:p>
            <a:pPr>
              <a:spcAft>
                <a:spcPts val="1200"/>
              </a:spcAft>
              <a:defRPr sz="2200">
                <a:solidFill>
                  <a:srgbClr val="333333"/>
                </a:solidFill>
              </a:defRPr>
            </a:pPr>
            <a:r>
              <a:t>• The results are summa- rized in Table 5.</a:t>
            </a:r>
          </a:p>
          <a:p>
            <a:pPr>
              <a:spcAft>
                <a:spcPts val="1200"/>
              </a:spcAft>
              <a:defRPr sz="2200">
                <a:solidFill>
                  <a:srgbClr val="333333"/>
                </a:solidFill>
              </a:defRPr>
            </a:pPr>
            <a:r>
              <a:t>• 63 Table 5: Performance comparison of baseline ap- proaches with ablations on VisDoMBench.</a:t>
            </a:r>
          </a:p>
          <a:p>
            <a:pPr>
              <a:spcAft>
                <a:spcPts val="1200"/>
              </a:spcAft>
              <a:defRPr sz="2200">
                <a:solidFill>
                  <a:srgbClr val="333333"/>
                </a:solidFill>
              </a:defRPr>
            </a:pPr>
            <a:r>
              <a:t>• In contrast, late fusion—where each modality is pro- cessed independently before aggregating—proved more effective.</a:t>
            </a:r>
          </a:p>
          <a:p>
            <a:pPr>
              <a:spcAft>
                <a:spcPts val="1200"/>
              </a:spcAft>
              <a:defRPr sz="2200">
                <a:solidFill>
                  <a:srgbClr val="333333"/>
                </a:solidFill>
              </a:defRPr>
            </a:pPr>
            <a:r>
              <a:t>• For instance, re- moving these prompting strategies led to an aver- age score drop from 37.</a:t>
            </a:r>
          </a:p>
        </p:txBody>
      </p:sp>
      <p:sp>
        <p:nvSpPr>
          <p:cNvPr id="5" name="TextBox 4"/>
          <p:cNvSpPr txBox="1"/>
          <p:nvPr/>
        </p:nvSpPr>
        <p:spPr>
          <a:xfrm>
            <a:off x="457200" y="6400800"/>
            <a:ext cx="11277295" cy="365760"/>
          </a:xfrm>
          <a:prstGeom prst="rect">
            <a:avLst/>
          </a:prstGeom>
          <a:noFill/>
        </p:spPr>
        <p:txBody>
          <a:bodyPr wrap="none">
            <a:spAutoFit/>
          </a:bodyPr>
          <a:lstStyle/>
          <a:p>
            <a:pPr>
              <a:defRPr sz="1000" i="1">
                <a:solidFill>
                  <a:srgbClr val="3D5A80"/>
                </a:solidFill>
              </a:defRPr>
            </a:pPr>
            <a:r>
              <a:t>Source: b86f26bd-4433-4084-b535-f8d2007efaab_gita.pdf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914400"/>
          </a:xfrm>
          <a:prstGeom prst="rect">
            <a:avLst/>
          </a:prstGeom>
          <a:noFill/>
        </p:spPr>
        <p:txBody>
          <a:bodyPr wrap="none">
            <a:spAutoFit/>
          </a:bodyPr>
          <a:lstStyle/>
          <a:p>
            <a:pPr algn="ctr">
              <a:defRPr sz="4000" b="1">
                <a:solidFill>
                  <a:srgbClr val="FFFFFF"/>
                </a:solidFill>
              </a:defRPr>
            </a:pPr>
            <a:r>
              <a:t>Key Takeaways &amp; Next Steps</a:t>
            </a:r>
          </a:p>
        </p:txBody>
      </p:sp>
      <p:sp>
        <p:nvSpPr>
          <p:cNvPr id="4" name="TextBox 3"/>
          <p:cNvSpPr txBox="1"/>
          <p:nvPr/>
        </p:nvSpPr>
        <p:spPr>
          <a:xfrm>
            <a:off x="1371600" y="2286000"/>
            <a:ext cx="9448495" cy="3657600"/>
          </a:xfrm>
          <a:prstGeom prst="rect">
            <a:avLst/>
          </a:prstGeom>
          <a:noFill/>
        </p:spPr>
        <p:txBody>
          <a:bodyPr wrap="square">
            <a:spAutoFit/>
          </a:bodyPr>
          <a:lstStyle/>
          <a:p>
            <a:pPr algn="ctr">
              <a:spcAft>
                <a:spcPts val="1600"/>
              </a:spcAft>
              <a:defRPr sz="2400">
                <a:solidFill>
                  <a:srgbClr val="FFFFFF"/>
                </a:solidFill>
              </a:defRPr>
            </a:pPr>
            <a:r>
              <a:t>✓ ✅ Key insights drawn from 8 knowledge base chunks</a:t>
            </a:r>
          </a:p>
          <a:p>
            <a:pPr algn="ctr">
              <a:spcAft>
                <a:spcPts val="1600"/>
              </a:spcAft>
              <a:defRPr sz="2400">
                <a:solidFill>
                  <a:srgbClr val="FFFFFF"/>
                </a:solidFill>
              </a:defRPr>
            </a:pPr>
            <a:r>
              <a:t>✓ 📚 Primary sources: b86f26bd-4433-4084-b535-f8d2007efaab_gita.pdf</a:t>
            </a:r>
          </a:p>
          <a:p>
            <a:pPr algn="ctr">
              <a:spcAft>
                <a:spcPts val="1600"/>
              </a:spcAft>
              <a:defRPr sz="2400">
                <a:solidFill>
                  <a:srgbClr val="FFFFFF"/>
                </a:solidFill>
              </a:defRPr>
            </a:pPr>
            <a:r>
              <a:t>✓ 📊 3 detailed content slides created</a:t>
            </a:r>
          </a:p>
          <a:p>
            <a:pPr algn="ctr">
              <a:spcAft>
                <a:spcPts val="1600"/>
              </a:spcAft>
              <a:defRPr sz="2400">
                <a:solidFill>
                  <a:srgbClr val="FFFFFF"/>
                </a:solidFill>
              </a:defRPr>
            </a:pPr>
            <a:r>
              <a:t>✓ 💡 For in-depth details, consult original documents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