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🧠 Multimodal RAG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08030"/>
                </a:solidFill>
              </a:defRPr>
            </a:pPr>
            <a:r>
              <a:t>Evidence-Based Multimodal Retrieval &amp;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Team: ManageSphere | Table No.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08030"/>
                </a:solidFill>
              </a:defRPr>
            </a:pPr>
            <a:r>
              <a:t>Table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1E3A5F"/>
                </a:solidFill>
              </a:defRPr>
            </a:pPr>
            <a:r>
              <a:t>❌ Current Challenges: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• Information scattered across multiple formats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• Inability to query multimodal data uniformly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• Lack of evidence tracing and conflict detection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• Hallucinations in AI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F08030"/>
                </a:solidFill>
              </a:defRPr>
            </a:pPr>
            <a:r>
              <a:t>✅ Our Solution: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✓ Unified multimodal knowledge base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✓ Cross-modal semantic retrieval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✓ Evidence-grounded responses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✓ Built-in conflict detection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✓ Uncertainty-aware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08030"/>
                </a:solidFill>
              </a:defRPr>
            </a:pPr>
            <a:r>
              <a:t>Table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1E3A5F"/>
                </a:solidFill>
              </a:defRPr>
            </a:pPr>
            <a:r>
              <a:t>🎯 Target Markets: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• Enterprise Knowledge Management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• Legal &amp; Compliance Firms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• Healthcare Documentation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• Research Institutions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• Educational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08030"/>
                </a:solidFill>
              </a:defRPr>
            </a:pPr>
            <a:r>
              <a:t>💰 Revenue Streams: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💵 SaaS Subscription (Tiered)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💵 Enterprise Licensing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💵 API Usage Fees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💵 Custom Integration Services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💵 Premium Support Plans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1E3A5F"/>
                </a:solidFill>
              </a:defRPr>
            </a:pPr>
            <a:r>
              <a:t>⭐ Unique Value Proposition: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First evidence-grounded multimodal RAG system with built-in conflict detection, uncertainty awareness, and hallucination prevention. Self-hostable for data privacy.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Features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08030"/>
                </a:solidFill>
              </a:defRPr>
            </a:pPr>
            <a:r>
              <a:t>Table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📄 Multimodal Ingestion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PDF, DOCX, TXT, Images, Audio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🔍 Cross-Modal Retrieval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Unified semantic search across all formats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🎯 Evidence Grounding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All responses cite specific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⚠️ Conflict Detection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Identifies contradictory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3716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🤔 Uncertainty Awareness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Explicitly acknowledges knowledge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9659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🚫 Hallucination Prevention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Refuses to answer without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5603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🌍 30+ Languages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Auto-translation for global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1546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☁️ Cloud Integration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Google Drive, OneDrive, S3, Dropbox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08030"/>
                </a:solidFill>
              </a:defRPr>
            </a:pPr>
            <a:r>
              <a:t>Table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74320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3A5F"/>
                </a:solidFill>
              </a:defRPr>
            </a:pPr>
            <a:r>
              <a:t>Frontend Layer</a:t>
            </a:r>
          </a:p>
          <a:p>
            <a:pPr lvl="1">
              <a:defRPr sz="900">
                <a:solidFill>
                  <a:srgbClr val="333333"/>
                </a:solidFill>
              </a:defRPr>
            </a:pPr>
            <a:r>
              <a:t>• Web UI (HTML/CSS/JS)</a:t>
            </a:r>
          </a:p>
          <a:p>
            <a:pPr lvl="1">
              <a:defRPr sz="900">
                <a:solidFill>
                  <a:srgbClr val="333333"/>
                </a:solidFill>
              </a:defRPr>
            </a:pPr>
            <a:r>
              <a:t>• Voice Input Interface</a:t>
            </a:r>
          </a:p>
          <a:p>
            <a:pPr lvl="1">
              <a:defRPr sz="900">
                <a:solidFill>
                  <a:srgbClr val="333333"/>
                </a:solidFill>
              </a:defRPr>
            </a:pPr>
            <a:r>
              <a:t>• Real-time Sync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371600"/>
            <a:ext cx="274320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4630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3A5F"/>
                </a:solidFill>
              </a:defRPr>
            </a:pPr>
            <a:r>
              <a:t>API Layer</a:t>
            </a:r>
          </a:p>
          <a:p>
            <a:pPr lvl="1">
              <a:defRPr sz="900">
                <a:solidFill>
                  <a:srgbClr val="333333"/>
                </a:solidFill>
              </a:defRPr>
            </a:pPr>
            <a:r>
              <a:t>• FastAPI REST Endpoints</a:t>
            </a:r>
          </a:p>
          <a:p>
            <a:pPr lvl="1">
              <a:defRPr sz="900">
                <a:solidFill>
                  <a:srgbClr val="333333"/>
                </a:solidFill>
              </a:defRPr>
            </a:pPr>
            <a:r>
              <a:t>• /upload, /query, /summarize</a:t>
            </a:r>
          </a:p>
          <a:p>
            <a:pPr lvl="1">
              <a:defRPr sz="900">
                <a:solidFill>
                  <a:srgbClr val="333333"/>
                </a:solidFill>
              </a:defRPr>
            </a:pPr>
            <a:r>
              <a:t>• WebSocket for live updates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274320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3A5F"/>
                </a:solidFill>
              </a:defRPr>
            </a:pPr>
            <a:r>
              <a:t>Processing Layer</a:t>
            </a:r>
          </a:p>
          <a:p>
            <a:pPr lvl="1">
              <a:defRPr sz="900">
                <a:solidFill>
                  <a:srgbClr val="333333"/>
                </a:solidFill>
              </a:defRPr>
            </a:pPr>
            <a:r>
              <a:t>• Text/Image/Audio Processors</a:t>
            </a:r>
          </a:p>
          <a:p>
            <a:pPr lvl="1">
              <a:defRPr sz="900">
                <a:solidFill>
                  <a:srgbClr val="333333"/>
                </a:solidFill>
              </a:defRPr>
            </a:pPr>
            <a:r>
              <a:t>• OCR (EasyOCR + Tesseract)</a:t>
            </a:r>
          </a:p>
          <a:p>
            <a:pPr lvl="1">
              <a:defRPr sz="900">
                <a:solidFill>
                  <a:srgbClr val="333333"/>
                </a:solidFill>
              </a:defRPr>
            </a:pPr>
            <a:r>
              <a:t>• Whisper ASR for audio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274320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3A5F"/>
                </a:solidFill>
              </a:defRPr>
            </a:pPr>
            <a:r>
              <a:t>Embedding Layer</a:t>
            </a:r>
          </a:p>
          <a:p>
            <a:pPr lvl="1">
              <a:defRPr sz="900">
                <a:solidFill>
                  <a:srgbClr val="333333"/>
                </a:solidFill>
              </a:defRPr>
            </a:pPr>
            <a:r>
              <a:t>• Text: MiniLM-L6 (384-dim)</a:t>
            </a:r>
          </a:p>
          <a:p>
            <a:pPr lvl="1">
              <a:defRPr sz="900">
                <a:solidFill>
                  <a:srgbClr val="333333"/>
                </a:solidFill>
              </a:defRPr>
            </a:pPr>
            <a:r>
              <a:t>• Images: CLIP ViT-B/32</a:t>
            </a:r>
          </a:p>
          <a:p>
            <a:pPr lvl="1">
              <a:defRPr sz="900">
                <a:solidFill>
                  <a:srgbClr val="333333"/>
                </a:solidFill>
              </a:defRPr>
            </a:pPr>
            <a:r>
              <a:t>• Cross-modal alignment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3291840"/>
            <a:ext cx="274320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338328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3A5F"/>
                </a:solidFill>
              </a:defRPr>
            </a:pPr>
            <a:r>
              <a:t>Storage Layer</a:t>
            </a:r>
          </a:p>
          <a:p>
            <a:pPr lvl="1">
              <a:defRPr sz="900">
                <a:solidFill>
                  <a:srgbClr val="333333"/>
                </a:solidFill>
              </a:defRPr>
            </a:pPr>
            <a:r>
              <a:t>• ChromaDB Vector Store</a:t>
            </a:r>
          </a:p>
          <a:p>
            <a:pPr lvl="1">
              <a:defRPr sz="900">
                <a:solidFill>
                  <a:srgbClr val="333333"/>
                </a:solidFill>
              </a:defRPr>
            </a:pPr>
            <a:r>
              <a:t>• HNSW Index for speed</a:t>
            </a:r>
          </a:p>
          <a:p>
            <a:pPr lvl="1">
              <a:defRPr sz="900">
                <a:solidFill>
                  <a:srgbClr val="333333"/>
                </a:solidFill>
              </a:defRPr>
            </a:pPr>
            <a:r>
              <a:t>• Metadata filtering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291840"/>
            <a:ext cx="274320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8328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3A5F"/>
                </a:solidFill>
              </a:defRPr>
            </a:pPr>
            <a:r>
              <a:t>Generation Layer</a:t>
            </a:r>
          </a:p>
          <a:p>
            <a:pPr lvl="1">
              <a:defRPr sz="900">
                <a:solidFill>
                  <a:srgbClr val="333333"/>
                </a:solidFill>
              </a:defRPr>
            </a:pPr>
            <a:r>
              <a:t>• LLM: Ollama/Gemini</a:t>
            </a:r>
          </a:p>
          <a:p>
            <a:pPr lvl="1">
              <a:defRPr sz="900">
                <a:solidFill>
                  <a:srgbClr val="333333"/>
                </a:solidFill>
              </a:defRPr>
            </a:pPr>
            <a:r>
              <a:t>• RAG Pipeline</a:t>
            </a:r>
          </a:p>
          <a:p>
            <a:pPr lvl="1">
              <a:defRPr sz="900">
                <a:solidFill>
                  <a:srgbClr val="333333"/>
                </a:solidFill>
              </a:defRPr>
            </a:pPr>
            <a:r>
              <a:t>• Confidence scoring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Process Flow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08030"/>
                </a:solidFill>
              </a:defRPr>
            </a:pPr>
            <a:r>
              <a:t>Table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77724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7589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1. Document Upload: User uploads PDF/DOCX/Image/Audio</a:t>
            </a:r>
          </a:p>
        </p:txBody>
      </p:sp>
      <p:sp>
        <p:nvSpPr>
          <p:cNvPr id="7" name="Direct Access Storage 6"/>
          <p:cNvSpPr/>
          <p:nvPr/>
        </p:nvSpPr>
        <p:spPr>
          <a:xfrm>
            <a:off x="4434840" y="1792224"/>
            <a:ext cx="274320" cy="54864"/>
          </a:xfrm>
          <a:prstGeom prst="flowChartMagneticDrum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56232"/>
            <a:ext cx="7772400" cy="411480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56232"/>
            <a:ext cx="7589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2. Content Extraction: Text/OCR/Speech-to-Text processing</a:t>
            </a:r>
          </a:p>
        </p:txBody>
      </p:sp>
      <p:sp>
        <p:nvSpPr>
          <p:cNvPr id="10" name="Direct Access Storage 9"/>
          <p:cNvSpPr/>
          <p:nvPr/>
        </p:nvSpPr>
        <p:spPr>
          <a:xfrm>
            <a:off x="4434840" y="2276856"/>
            <a:ext cx="274320" cy="54864"/>
          </a:xfrm>
          <a:prstGeom prst="flowChartMagneticDrum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40864"/>
            <a:ext cx="77724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40864"/>
            <a:ext cx="7589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3. Chunking: Split into semantic chunks</a:t>
            </a:r>
          </a:p>
        </p:txBody>
      </p:sp>
      <p:sp>
        <p:nvSpPr>
          <p:cNvPr id="13" name="Direct Access Storage 12"/>
          <p:cNvSpPr/>
          <p:nvPr/>
        </p:nvSpPr>
        <p:spPr>
          <a:xfrm>
            <a:off x="4434840" y="2761488"/>
            <a:ext cx="274320" cy="54864"/>
          </a:xfrm>
          <a:prstGeom prst="flowChartMagneticDrum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825496"/>
            <a:ext cx="7772400" cy="411480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25496"/>
            <a:ext cx="7589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4. Embedding Generation: Convert to 384-dim vectors</a:t>
            </a:r>
          </a:p>
        </p:txBody>
      </p:sp>
      <p:sp>
        <p:nvSpPr>
          <p:cNvPr id="16" name="Direct Access Storage 15"/>
          <p:cNvSpPr/>
          <p:nvPr/>
        </p:nvSpPr>
        <p:spPr>
          <a:xfrm>
            <a:off x="4434840" y="3246120"/>
            <a:ext cx="274320" cy="54864"/>
          </a:xfrm>
          <a:prstGeom prst="flowChartMagneticDrum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310128"/>
            <a:ext cx="77724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10128"/>
            <a:ext cx="7589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5. Vector Storage: Store in ChromaDB with metadata</a:t>
            </a:r>
          </a:p>
        </p:txBody>
      </p:sp>
      <p:sp>
        <p:nvSpPr>
          <p:cNvPr id="19" name="Direct Access Storage 18"/>
          <p:cNvSpPr/>
          <p:nvPr/>
        </p:nvSpPr>
        <p:spPr>
          <a:xfrm>
            <a:off x="4434840" y="3730752"/>
            <a:ext cx="274320" cy="54864"/>
          </a:xfrm>
          <a:prstGeom prst="flowChartMagneticDrum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794760"/>
            <a:ext cx="7772400" cy="411480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94760"/>
            <a:ext cx="7589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6. Query Processing: User asks question (text/voice)</a:t>
            </a:r>
          </a:p>
        </p:txBody>
      </p:sp>
      <p:sp>
        <p:nvSpPr>
          <p:cNvPr id="22" name="Direct Access Storage 21"/>
          <p:cNvSpPr/>
          <p:nvPr/>
        </p:nvSpPr>
        <p:spPr>
          <a:xfrm>
            <a:off x="4434840" y="4215384"/>
            <a:ext cx="274320" cy="54864"/>
          </a:xfrm>
          <a:prstGeom prst="flowChartMagneticDrum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279392"/>
            <a:ext cx="77724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79392"/>
            <a:ext cx="7589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7. Retrieval: Semantic search across modalities</a:t>
            </a:r>
          </a:p>
        </p:txBody>
      </p:sp>
      <p:sp>
        <p:nvSpPr>
          <p:cNvPr id="25" name="Direct Access Storage 24"/>
          <p:cNvSpPr/>
          <p:nvPr/>
        </p:nvSpPr>
        <p:spPr>
          <a:xfrm>
            <a:off x="4434840" y="4700016"/>
            <a:ext cx="274320" cy="54864"/>
          </a:xfrm>
          <a:prstGeom prst="flowChartMagneticDrum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764024"/>
            <a:ext cx="7772400" cy="411480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764024"/>
            <a:ext cx="7589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8. Conflict Detection: Check for contradictions</a:t>
            </a:r>
          </a:p>
        </p:txBody>
      </p:sp>
      <p:sp>
        <p:nvSpPr>
          <p:cNvPr id="28" name="Direct Access Storage 27"/>
          <p:cNvSpPr/>
          <p:nvPr/>
        </p:nvSpPr>
        <p:spPr>
          <a:xfrm>
            <a:off x="4434840" y="5184648"/>
            <a:ext cx="274320" cy="54864"/>
          </a:xfrm>
          <a:prstGeom prst="flowChartMagneticDrum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5248656"/>
            <a:ext cx="77724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248656"/>
            <a:ext cx="7589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9. Response Generation: LLM generates evidence-based answer</a:t>
            </a:r>
          </a:p>
        </p:txBody>
      </p:sp>
      <p:sp>
        <p:nvSpPr>
          <p:cNvPr id="31" name="Direct Access Storage 30"/>
          <p:cNvSpPr/>
          <p:nvPr/>
        </p:nvSpPr>
        <p:spPr>
          <a:xfrm>
            <a:off x="4434840" y="5669280"/>
            <a:ext cx="274320" cy="54864"/>
          </a:xfrm>
          <a:prstGeom prst="flowChartMagneticDrum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733288"/>
            <a:ext cx="7772400" cy="411480"/>
          </a:xfrm>
          <a:prstGeom prst="rect">
            <a:avLst/>
          </a:prstGeom>
          <a:solidFill>
            <a:srgbClr val="F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733288"/>
            <a:ext cx="7589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10. Confidence Scoring: Calculate reliability 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08030"/>
                </a:solidFill>
              </a:defRPr>
            </a:pPr>
            <a:r>
              <a:t>Table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🎨 Frontend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HTML5 / CSS3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Vanilla JavaScript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Progressive Web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⚙️ Backend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FastAPI (Python)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Async/Await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RESTful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🤖 AI/ML Models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Llama 3.2 (3B)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CLIP ViT-B/32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Whisper Tiny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88036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📊 Embeddings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Sentence Transformers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MiniLM-L6-v2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384-dim vectors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💾 Storage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ChromaDB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HNSW Index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SQLite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38912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📄 Processing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PyPDF / python-docx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EasyOCR / Tesseract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Pydub audio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9788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☁️ Integration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Google Drive API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OneDrive API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AWS S3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89788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🌐 Translation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Langdetect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Googletrans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30+ languages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08030"/>
                </a:solidFill>
              </a:defRPr>
            </a:pPr>
            <a:r>
              <a:t>Table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3A5F"/>
                </a:solidFill>
              </a:defRPr>
            </a:pPr>
            <a:r>
              <a:t>🏆 Why Choose Our System?</a:t>
            </a:r>
          </a:p>
          <a:p>
            <a:pPr>
              <a:spcAft>
                <a:spcPts val="200"/>
              </a:spcAft>
              <a:defRPr sz="1400" b="1">
                <a:solidFill>
                  <a:srgbClr val="F08030"/>
                </a:solidFill>
              </a:defRPr>
            </a:pPr>
            <a:r>
              <a:t>✅ Evidence Provenance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Every answer cites exact sources - no hallucinations</a:t>
            </a:r>
          </a:p>
          <a:p>
            <a:pPr>
              <a:spcAft>
                <a:spcPts val="200"/>
              </a:spcAft>
              <a:defRPr sz="1400" b="1">
                <a:solidFill>
                  <a:srgbClr val="F08030"/>
                </a:solidFill>
              </a:defRPr>
            </a:pPr>
            <a:r>
              <a:t>✅ Conflict Detection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Automatically identifies contradictory information</a:t>
            </a:r>
          </a:p>
          <a:p>
            <a:pPr>
              <a:spcAft>
                <a:spcPts val="200"/>
              </a:spcAft>
              <a:defRPr sz="1400" b="1">
                <a:solidFill>
                  <a:srgbClr val="F08030"/>
                </a:solidFill>
              </a:defRPr>
            </a:pPr>
            <a:r>
              <a:t>✅ Uncertainty Handling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Transparently admits knowledge gaps</a:t>
            </a:r>
          </a:p>
          <a:p>
            <a:pPr>
              <a:spcAft>
                <a:spcPts val="200"/>
              </a:spcAft>
              <a:defRPr sz="1400" b="1">
                <a:solidFill>
                  <a:srgbClr val="F08030"/>
                </a:solidFill>
              </a:defRPr>
            </a:pPr>
            <a:r>
              <a:t>✅ True Multimodal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Seamless integration of text, images, and audio</a:t>
            </a:r>
          </a:p>
          <a:p>
            <a:pPr>
              <a:spcAft>
                <a:spcPts val="200"/>
              </a:spcAft>
              <a:defRPr sz="1400" b="1">
                <a:solidFill>
                  <a:srgbClr val="F08030"/>
                </a:solidFill>
              </a:defRPr>
            </a:pPr>
            <a:r>
              <a:t>✅ Self-Hostable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Full data control - no vendor lock-in</a:t>
            </a:r>
          </a:p>
          <a:p>
            <a:pPr>
              <a:spcAft>
                <a:spcPts val="200"/>
              </a:spcAft>
              <a:defRPr sz="1400" b="1">
                <a:solidFill>
                  <a:srgbClr val="F08030"/>
                </a:solidFill>
              </a:defRPr>
            </a:pPr>
            <a:r>
              <a:t>✅ Offline Capable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Works without internet connectivity</a:t>
            </a:r>
          </a:p>
          <a:p>
            <a:pPr>
              <a:spcAft>
                <a:spcPts val="200"/>
              </a:spcAft>
              <a:defRPr sz="1400" b="1">
                <a:solidFill>
                  <a:srgbClr val="F08030"/>
                </a:solidFill>
              </a:defRPr>
            </a:pPr>
            <a:r>
              <a:t>✅ Multilingual Support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30+ languages with auto-detection</a:t>
            </a:r>
          </a:p>
          <a:p>
            <a:pPr>
              <a:spcAft>
                <a:spcPts val="200"/>
              </a:spcAft>
              <a:defRPr sz="1400" b="1">
                <a:solidFill>
                  <a:srgbClr val="F08030"/>
                </a:solidFill>
              </a:defRPr>
            </a:pPr>
            <a:r>
              <a:t>✅ Production Ready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Complete system with PWA, cloud sync, real-time updates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Real-World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08030"/>
                </a:solidFill>
              </a:defRPr>
            </a:pPr>
            <a:r>
              <a:t>Table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solidFill>
            <a:srgbClr val="F8F9FA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5F"/>
                </a:solidFill>
              </a:defRPr>
            </a:pPr>
            <a:r>
              <a:t>⚖️ Legal Research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Query across case files, precedents, contracts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Detect conflicting clauses automatically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Evidence-backed legal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371600"/>
            <a:ext cx="4114800" cy="2286000"/>
          </a:xfrm>
          <a:prstGeom prst="rect">
            <a:avLst/>
          </a:prstGeom>
          <a:solidFill>
            <a:srgbClr val="F8F9FA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60" y="150876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5F"/>
                </a:solidFill>
              </a:defRPr>
            </a:pPr>
            <a:r>
              <a:t>🏥 Healthcare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Medical records + imaging + audio notes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Patient history with full traceability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Multi-source diagnosis support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4114800" cy="2286000"/>
          </a:xfrm>
          <a:prstGeom prst="rect">
            <a:avLst/>
          </a:prstGeom>
          <a:solidFill>
            <a:srgbClr val="F8F9FA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16052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5F"/>
                </a:solidFill>
              </a:defRPr>
            </a:pPr>
            <a:r>
              <a:t>🏢 Enterprise Knowledge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Company docs, presentations, meeting recordings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Cross-department information retrieval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Policy compliance checking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4023360"/>
            <a:ext cx="4114800" cy="2286000"/>
          </a:xfrm>
          <a:prstGeom prst="rect">
            <a:avLst/>
          </a:prstGeom>
          <a:solidFill>
            <a:srgbClr val="F8F9FA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416052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5F"/>
                </a:solidFill>
              </a:defRPr>
            </a:pPr>
            <a:r>
              <a:t>🎓 Academic Research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Papers, datasets, lecture recordings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Literature review automation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• Contradiction detection in studies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08030"/>
                </a:solidFill>
              </a:defRPr>
            </a:pPr>
            <a:r>
              <a:t>Team ManageSphere | Table No.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GitHub: github.com/rahulranjan9770/multimodel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Evidence-Based Multimodal RAG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